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500937386664-56d1dfef3854" ContentType="image/photo-1500937386664-56d1dfef3854"/>
  <Default Extension="photo-1542838132-92c53300491e" ContentType="image/photo-1542838132-92c53300491e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DERN_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32004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92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Yogam Organic Farms | Next.js E-Commerce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0" y="4892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Sri Muthukumaran Institute of Technology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hoto-1500937386664-56d1dfef3854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hoto-1542838132-92c53300491e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00937386664-56d1dfef3854?auto=format&amp;fit=crop&amp;q=80&amp;w=192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846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84632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YOGAM ORGANIC FARMS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Direct-to-Consumer Sustainable E-Commerce Platform for Organic Produce using Next.js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14400" y="3474720"/>
            <a:ext cx="3200400" cy="9144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4747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Submitted By: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Name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Register Number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0" y="3474720"/>
            <a:ext cx="3200400" cy="9144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0" y="34747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Under the Guidance of: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Guide Name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Guide Designation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653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Abstract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Built on Next.js, this platform resolves the disconnect between organic growers and sustainably-minded consumers.
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Empowers farmers with a Direct-to-Consumer (D2C) pipeline, maximizing profits and cutting out wholesale intermediaries.
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Features Server-Side Rendering (SSR) for blazing performance, full cart/checkout functionality, and Prisma-backed PostgreSQL storage.
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Integrates modern UI libraries (Tailwind CSS, Framer Motion) for an enterprise-level shopping experience.</a:t>
            </a:r>
            <a:endParaRPr lang="en-US" sz="1800" dirty="0"/>
          </a:p>
        </p:txBody>
      </p:sp>
      <p:pic>
        <p:nvPicPr>
          <p:cNvPr id="5" name="Image 0" descr="https://images.unsplash.com/photo-1542838132-92c53300491e?auto=format&amp;fit=crop&amp;q=80&amp;w=80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097280"/>
            <a:ext cx="2743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653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Scope of the Project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Develop a scalable, React-based marketplace specifically for verified organic farm produce.
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Provide an authenticated Admin Dashboard to track inventory, revenue analytics, and order fulfillment states dynamically.
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Implement highly responsive front-end layouts adapting perfectly to mobile, tablet, and desktop environments.
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Secure user data, local address formatting, and checkout sessions utilizing NextAuth.js and JWT.
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Integrate a secure third-party Payment Gateway (e.g., Stripe/Razorpay) to process online transactions securely.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653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Systems Comparison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886200" cy="320040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91B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Existing Methods (Drawbacks)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Over-reliance on wholesale brokers draining farmers' margins.
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Slow, manual inventory tracking practices leading to food spoilage.
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Inflated pricing for the end-consumer due to supply chain bloat.
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Zero transparency regarding organic produce origin.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00600" y="1097280"/>
            <a:ext cx="3886200" cy="3200400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2801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Proposed System (Advantages)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92040" y="18288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Re-routing consumer purchases directly into farmers' revenue.
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Real-time, Next.js API-driven automated stock management.
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Integrated Payment Gateway for secure, instantaneous checkout.
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Clear farm-to-table UI trust markers and product categories.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653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2011680" cy="137160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Client UI (React)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- Tailwind CSS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- Framer Motion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51760" y="1828800"/>
            <a:ext cx="731520" cy="36576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3566160" y="1371600"/>
            <a:ext cx="2011680" cy="1371600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3716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Next.js Server API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- Edge Runtime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- Server Actions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0" y="1828800"/>
            <a:ext cx="731520" cy="36576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1371600"/>
            <a:ext cx="2011680" cy="1371600"/>
          </a:xfrm>
          <a:prstGeom prst="rect">
            <a:avLst/>
          </a:prstGeom>
          <a:solidFill>
            <a:srgbClr val="FEF9C3"/>
          </a:solidFill>
          <a:ln w="25400">
            <a:solidFill>
              <a:srgbClr val="CA8A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3716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Data Layer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- PostgreSQL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- Prisma ORM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66160" y="3200400"/>
            <a:ext cx="2011680" cy="914400"/>
          </a:xfrm>
          <a:prstGeom prst="rect">
            <a:avLst/>
          </a:prstGeom>
          <a:solidFill>
            <a:srgbClr val="F3E8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32004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NextAuth.js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JWT Security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9120" y="2834640"/>
            <a:ext cx="365760" cy="274320"/>
          </a:xfrm>
          <a:prstGeom prst="upArrow">
            <a:avLst/>
          </a:prstGeom>
          <a:solidFill>
            <a:srgbClr val="64748B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0" y="3200400"/>
            <a:ext cx="2011680" cy="914400"/>
          </a:xfrm>
          <a:prstGeom prst="rect">
            <a:avLst/>
          </a:prstGeom>
          <a:solidFill>
            <a:srgbClr val="FFE4E6"/>
          </a:solidFill>
          <a:ln w="25400">
            <a:solidFill>
              <a:srgbClr val="E11D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32004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Payment Gateway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API (Stripe/Razor)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80960" y="2834640"/>
            <a:ext cx="365760" cy="274320"/>
          </a:xfrm>
          <a:prstGeom prst="upArrow">
            <a:avLst/>
          </a:prstGeom>
          <a:solidFill>
            <a:srgbClr val="64748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653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Application Modules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User Authentication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Secure Sign-up, Sign-in, and full session management using JSON Web Tokens (JWT) encrypted with Bcrypt.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Admin IT Dashboard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Central React-based interface to manage live products, analyze sales, and dynamically update order statuses.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Direct Produce Catalog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Filtering and search-enabled grid showcasing available organic stocks, fetching real-time JSON responses.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Modern Cart &amp; Payment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React Context-powered cart holding state, integrating local address persistence and a secure Payment Gateway processor.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Order Tracking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Profile dashboard for end-users to oversee past purchases, verify tracking statuses, and maintain addresses.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653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UML Use Case Diagram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1097280"/>
            <a:ext cx="3657600" cy="3474720"/>
          </a:xfrm>
          <a:prstGeom prst="rect">
            <a:avLst/>
          </a:prstGeom>
          <a:solidFill>
            <a:srgbClr val="F8FAFC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Next.js E-Commerce 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731520" cy="731520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17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Customer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0" y="2286000"/>
            <a:ext cx="731520" cy="731520"/>
          </a:xfrm>
          <a:prstGeom prst="ellipse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3017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Admin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743200" cy="45720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280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Auth / Login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828800"/>
            <a:ext cx="2743200" cy="45720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Browse Produce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2377440"/>
            <a:ext cx="2743200" cy="45720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Cart / Checkout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2926080"/>
            <a:ext cx="2743200" cy="45720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Process Payment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3474720"/>
            <a:ext cx="2743200" cy="45720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Manage Inventory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4023360"/>
            <a:ext cx="2743200" cy="45720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Update Order Status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45920" y="2651760"/>
            <a:ext cx="1554480" cy="-13716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2651760"/>
            <a:ext cx="1554480" cy="-8229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0" y="2651760"/>
            <a:ext cx="1554480" cy="-2743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0" y="2651760"/>
            <a:ext cx="1554480" cy="2743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463040"/>
            <a:ext cx="1554480" cy="11887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3703320"/>
            <a:ext cx="1554480" cy="-10515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4251960"/>
            <a:ext cx="1554480" cy="-16002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653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Database Schema (ER Diagram)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2860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2286000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PK: 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-----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name (VARCHAR)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email (VARCHAR)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role (ENUM)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22860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26080"/>
            <a:ext cx="2286000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addresses (FK: userId)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PK: 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-----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street, city, zip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1097280"/>
            <a:ext cx="22860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1097280"/>
            <a:ext cx="2286000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orders (FK: userId)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155448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PK: 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-----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totalAmount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paymentId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status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createdAt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1097280"/>
            <a:ext cx="21945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1097280"/>
            <a:ext cx="2194560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097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order_items (FKs: orderId, prodId)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15544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PK: 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-----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quantity (INT)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price (DECIMAL)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3108960"/>
            <a:ext cx="21945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3108960"/>
            <a:ext cx="2194560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108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products (FK: categoryId)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35661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PK: 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-----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name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price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stock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0" y="3474720"/>
            <a:ext cx="22860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3474720"/>
            <a:ext cx="2286000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categories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66160" y="3931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PK: 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-----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name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slug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600200" y="2560320"/>
            <a:ext cx="0" cy="365760"/>
          </a:xfrm>
          <a:prstGeom prst="line">
            <a:avLst/>
          </a:prstGeom>
          <a:noFill/>
          <a:ln w="25400">
            <a:solidFill>
              <a:srgbClr val="16653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1828800"/>
            <a:ext cx="731520" cy="0"/>
          </a:xfrm>
          <a:prstGeom prst="line">
            <a:avLst/>
          </a:prstGeom>
          <a:noFill/>
          <a:ln w="25400">
            <a:solidFill>
              <a:srgbClr val="1665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0" y="1828800"/>
            <a:ext cx="731520" cy="0"/>
          </a:xfrm>
          <a:prstGeom prst="line">
            <a:avLst/>
          </a:prstGeom>
          <a:noFill/>
          <a:ln w="25400">
            <a:solidFill>
              <a:srgbClr val="16653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0" y="2743200"/>
            <a:ext cx="0" cy="365760"/>
          </a:xfrm>
          <a:prstGeom prst="line">
            <a:avLst/>
          </a:prstGeom>
          <a:noFill/>
          <a:ln w="25400">
            <a:solidFill>
              <a:srgbClr val="16653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60720" y="3840480"/>
            <a:ext cx="731520" cy="0"/>
          </a:xfrm>
          <a:prstGeom prst="line">
            <a:avLst/>
          </a:prstGeom>
          <a:noFill/>
          <a:ln w="25400">
            <a:solidFill>
              <a:srgbClr val="16653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653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Process Flow: Order to Delivery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0"/>
            <a:ext cx="1371600" cy="731520"/>
          </a:xfrm>
          <a:prstGeom prst="ellipse">
            <a:avLst/>
          </a:prstGeom>
          <a:solidFill>
            <a:srgbClr val="1E40A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START: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Add Products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560320"/>
            <a:ext cx="182880" cy="18288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2286000"/>
            <a:ext cx="1188720" cy="731520"/>
          </a:xfrm>
          <a:prstGeom prst="rect">
            <a:avLst/>
          </a:prstGeom>
          <a:solidFill>
            <a:srgbClr val="1E40A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22860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Validate Cart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&amp; DB Stock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2560320"/>
            <a:ext cx="182880" cy="18288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2286000"/>
            <a:ext cx="1188720" cy="731520"/>
          </a:xfrm>
          <a:prstGeom prst="rect">
            <a:avLst/>
          </a:prstGeom>
          <a:solidFill>
            <a:srgbClr val="1E40A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2860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Process Payment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(Gateway)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560320"/>
            <a:ext cx="182880" cy="18288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2286000"/>
            <a:ext cx="1188720" cy="731520"/>
          </a:xfrm>
          <a:prstGeom prst="rect">
            <a:avLst/>
          </a:prstGeom>
          <a:solidFill>
            <a:srgbClr val="1E40A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2860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POST: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Order PENDING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2560320"/>
            <a:ext cx="182880" cy="18288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1371600"/>
            <a:ext cx="1188720" cy="731520"/>
          </a:xfrm>
          <a:prstGeom prst="rect">
            <a:avLst/>
          </a:prstGeom>
          <a:solidFill>
            <a:srgbClr val="1E40A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371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 Update: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PROCESSING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3200400"/>
            <a:ext cx="1188720" cy="731520"/>
          </a:xfrm>
          <a:prstGeom prst="rect">
            <a:avLst/>
          </a:prstGeom>
          <a:solidFill>
            <a:srgbClr val="1E40A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2004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 Update: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SHIPPED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49240" y="1737360"/>
            <a:ext cx="0" cy="548640"/>
          </a:xfrm>
          <a:prstGeom prst="line">
            <a:avLst/>
          </a:prstGeom>
          <a:noFill/>
          <a:ln w="25400">
            <a:solidFill>
              <a:srgbClr val="1E3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0840" y="2103120"/>
            <a:ext cx="0" cy="10972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2560320"/>
            <a:ext cx="182880" cy="18288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3" name="Shape 21"/>
          <p:cNvSpPr/>
          <p:nvPr/>
        </p:nvSpPr>
        <p:spPr>
          <a:xfrm>
            <a:off x="7498080" y="2194560"/>
            <a:ext cx="1188720" cy="731520"/>
          </a:xfrm>
          <a:prstGeom prst="ellipse">
            <a:avLst/>
          </a:prstGeom>
          <a:solidFill>
            <a:srgbClr val="1E40A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219456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END: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Order DELIVERED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653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Integration: Market Basket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Apriori Algorithm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5943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Purpose:
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Implemented an associative Data Mining algorithm to dynamically power the 'Frequently Bought Together' recommendations.
</a:t>
            </a:r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How it Works:
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- Analyzes historical PostgreSQL order data.
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- Calculates the 'Support' (how often items appear) and 'Confidence' (probability of buying Item B if Item A is purchased).
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- Returns real-time recommendations natively without relying on heavy external deep learning models.
</a:t>
            </a:r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Business Value:
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Increases Average Order Value (AOV) by intelligently up-selling correlated organic products during browsing.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0" y="1645920"/>
            <a:ext cx="2011680" cy="91440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6459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F172A"/>
                </a:solidFill>
              </a:rPr>
              <a:t>User Views:</a:t>
            </a:r>
            <a:endParaRPr lang="en-US" dirty="0"/>
          </a:p>
          <a:p>
            <a:pPr algn="ctr" indent="0" marL="0">
              <a:buNone/>
            </a:pPr>
            <a:r>
              <a:rPr lang="en-US" b="1" dirty="0">
                <a:solidFill>
                  <a:srgbClr val="0F172A"/>
                </a:solidFill>
              </a:rPr>
              <a:t>Organic Tomatoes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406640" y="2651760"/>
            <a:ext cx="365760" cy="365760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3108960"/>
            <a:ext cx="2011680" cy="914400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31089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F172A"/>
                </a:solidFill>
              </a:rPr>
              <a:t>System Recommends:</a:t>
            </a:r>
            <a:endParaRPr lang="en-US" dirty="0"/>
          </a:p>
          <a:p>
            <a:pPr algn="ctr" indent="0" marL="0">
              <a:buNone/>
            </a:pPr>
            <a:r>
              <a:rPr lang="en-US" b="1" dirty="0">
                <a:solidFill>
                  <a:srgbClr val="0F172A"/>
                </a:solidFill>
              </a:rPr>
              <a:t>Organic Onions</a:t>
            </a:r>
            <a:endParaRPr lang="en-US" dirty="0"/>
          </a:p>
          <a:p>
            <a:pPr algn="ctr" indent="0" marL="0">
              <a:buNone/>
            </a:pPr>
            <a:r>
              <a:rPr lang="en-US" b="1" dirty="0">
                <a:solidFill>
                  <a:srgbClr val="0F172A"/>
                </a:solidFill>
              </a:rPr>
              <a:t>(Confidence: 85%)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653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IEEE Base Paper Reference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solidFill>
            <a:srgbClr val="FEF9C3"/>
          </a:solidFill>
          <a:ln w="25400">
            <a:solidFill>
              <a:srgbClr val="CA8A0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8A0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Paper Title: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Enhancing E-Commerce Sales through Market Basket Analysis using the Apriori Algorithm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Domain Area:
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Mining &amp; Knowledge Discovery in Databases (KDD).
</a:t>
            </a:r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This Paper Was Chosen:
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The Apriori algorithm bridges the gap between Relational Database Management (PostgreSQL/Prisma) and Machine Learning.
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It provides a scalable, pure-code solution to solve the 'cold-start' recommendation problem often faced by new organic markets.
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Directly aligns with the project’s goal of optimizing digital D2C (Direct-to-Consumer) supply chains.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Sri Muthukumaran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Yogam Organic Farms</dc:title>
  <dc:subject>Project Presentation</dc:subject>
  <dc:creator>Yogam Organic Farms Team</dc:creator>
  <cp:lastModifiedBy>Yogam Organic Farms Team</cp:lastModifiedBy>
  <cp:revision>2</cp:revision>
  <dcterms:created xsi:type="dcterms:W3CDTF">2026-02-20T16:08:01Z</dcterms:created>
  <dcterms:modified xsi:type="dcterms:W3CDTF">2026-02-20T16:08:01Z</dcterms:modified>
</cp:coreProperties>
</file>